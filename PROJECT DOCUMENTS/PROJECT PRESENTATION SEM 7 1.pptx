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0"/>
  </p:notesMasterIdLst>
  <p:sldIdLst>
    <p:sldId id="256" r:id="rId2"/>
    <p:sldId id="257" r:id="rId3"/>
    <p:sldId id="258" r:id="rId4"/>
    <p:sldId id="267" r:id="rId5"/>
    <p:sldId id="259" r:id="rId6"/>
    <p:sldId id="260" r:id="rId7"/>
    <p:sldId id="271" r:id="rId8"/>
    <p:sldId id="272" r:id="rId9"/>
    <p:sldId id="261" r:id="rId10"/>
    <p:sldId id="268" r:id="rId11"/>
    <p:sldId id="263" r:id="rId12"/>
    <p:sldId id="270" r:id="rId13"/>
    <p:sldId id="264" r:id="rId14"/>
    <p:sldId id="265" r:id="rId15"/>
    <p:sldId id="273" r:id="rId16"/>
    <p:sldId id="274" r:id="rId17"/>
    <p:sldId id="275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:p15="http://schemas.microsoft.com/office/powerpoint/2012/main" userId="e71b4786085f462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83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8-19T15:12:00.716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B6DE8-89EB-4910-BE6E-A1D1FF0DA41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F56BE-111F-4976-9862-9E8F85A671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07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0DB50-529F-4EAA-05BD-04B73E2BE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E2717-3FB7-E46A-0852-D6433C844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6675F-2D79-1F80-B5B2-4A7F79A4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0C2BD-72DB-1DA2-3F0F-339407C1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E72B2-1936-14DC-C664-BB037482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3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BC55-FA4D-FA72-BE81-D36B7EC9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C7225-5F6D-0B4B-DBC5-9C3B1A088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91B07-76BB-0A4C-9E9E-E94C58B2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154A6-38FE-3F4C-0F2A-DFDAC532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9DC88-3B83-EAC9-FAAE-C37D4C82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9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21E5-075C-A2E6-79E9-8EAA2A24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2C535-0FA9-48D1-D56C-9DB5FAAFC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F676A-D8F6-9859-19AA-F646910B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4995A-0CB9-BC78-ED20-EEC56874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E271B-DA0B-8C3E-8C2F-D1018E54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95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48A9-0B46-44C7-2299-79E35644B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CD35-7FE1-CE42-BDDB-6DB058382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78EA2-C6E5-4B1B-5636-730636A1F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45F5F-956E-BD50-F31A-45AD47F5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4AD25-BE30-D087-ED84-2DA100C2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E97F8-664C-9BD3-4D2A-C8FC7A56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12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A0A6-86AA-6D11-A9E1-1EFD653A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BF830-3A17-637A-9689-2A8390018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5E722-59D5-7E4C-65AF-68F25DF28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099BF-A44B-CEF2-E38E-B5270C78F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C3778-34D3-2588-C13E-CB1CF9705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6D515C-B1BA-9373-15BB-B823EBAB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F3809-D69E-7DB3-4733-ECE17C40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4F08C-B282-CC76-748B-C3F1B302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9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3679-71BA-E458-68E9-5A0B3065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99998-65B0-BBAA-B41E-76CDDC3C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C1BE7-6B2D-3981-85A0-01D0F03F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92B5A-1CC6-92A6-497D-4DE1E0CC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374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3B1C0-FA56-6CC0-AC46-D0C33824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8653D-BCEB-A16F-7504-DDA40116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C5B25-0B3E-A5A7-9938-209A9D93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93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1395-03BA-0718-3CF8-2A79972A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314A3-8257-6C9E-6508-651DFFA8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DC89B-A418-C1F4-EEB8-8E92D37B6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5A7FD-24BA-8807-8E1F-839719B1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C2C28-D8A7-057B-B4B9-E159870A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B0DEA-EB4B-5EEC-5B4C-F741D528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1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9EC1-593B-C4A1-A9DA-5C863B7B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9C014-6D9B-0366-7891-C133C7852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55B71-3407-9FB8-FE6A-708043E79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95DE6-0C70-0C9D-1D92-906A4076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4F359-6F12-69F3-54C3-8B7F6F60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A3477-1DAF-7EAC-332E-F0CCAF9F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0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E502-E892-D4BB-3280-F80E3252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CEFB0-F338-49F3-8CF7-E59342B2E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D1192-9960-684C-8BDC-70251E14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5954-895D-0773-317D-E367367A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A0256-21E5-7484-1C8F-E11E4F1A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26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68B92-1401-D429-C12E-E2A04E947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6611D-BFDF-58C1-7F96-D4EDA7AB1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70FE1-0CC0-F0D9-BB25-1C352592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98F78-4F2B-E714-C019-0D60915B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15AC0-9B40-405D-02F2-E57B65D0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65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BE2BE-D604-A3FA-EFEC-4EFA532D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C67FA-FBFA-FE9B-6B19-3673B702D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78014-75D9-7892-5A13-A791840C1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75D64-2596-4CD3-88B1-63A1A557245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6F27-80BB-CE9C-99D5-1F93A4BAE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4A61C-2906-82CD-D34F-97E260858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7B148-DC85-4EDB-ACA3-100B1D618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38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sdgs.un.org/goal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SSRE.2016.58" TargetMode="External"/><Relationship Id="rId2" Type="http://schemas.openxmlformats.org/officeDocument/2006/relationships/hyperlink" Target="https://doi.org/10.1145/1629575.162960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hyperlink" Target="https://www.usenix.org/legacy/event/atc10/tech/full_papers/Lou.pdf" TargetMode="External"/><Relationship Id="rId4" Type="http://schemas.openxmlformats.org/officeDocument/2006/relationships/hyperlink" Target="https://www.usenix.org/conference/osdi14/technical-sessions/presentation/yuan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338906.3338942" TargetMode="External"/><Relationship Id="rId2" Type="http://schemas.openxmlformats.org/officeDocument/2006/relationships/hyperlink" Target="https://doi.org/10.1109/ICDM.2009.9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hyperlink" Target="https://doi.org/10.1109/ISSREW.2019.00067" TargetMode="External"/><Relationship Id="rId4" Type="http://schemas.openxmlformats.org/officeDocument/2006/relationships/hyperlink" Target="https://www.splunk.com/pdfs/ebooks/the-essential-guide-to-machine-data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queue.acm.org/detail.cfm?id=3471316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8DDB9-DBBF-DC77-1AE3-8FF0BB428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3244" y="1442302"/>
            <a:ext cx="9144000" cy="1659714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Presentation-I </a:t>
            </a:r>
            <a:br>
              <a:rPr lang="en-IN" sz="36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(IT System Log </a:t>
            </a:r>
            <a:r>
              <a:rPr lang="en-IN" sz="3600" b="1" dirty="0" err="1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Analyzer</a:t>
            </a:r>
            <a:r>
              <a:rPr lang="en-IN" sz="36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IN" sz="36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Group Id: PCS 26 - 29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D2E11FF-47D0-A19D-F7FA-3856276B5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0" tIns="22218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350E4E78-6352-9391-1F0E-82A56A64A4DA}"/>
              </a:ext>
            </a:extLst>
          </p:cNvPr>
          <p:cNvSpPr/>
          <p:nvPr/>
        </p:nvSpPr>
        <p:spPr>
          <a:xfrm>
            <a:off x="71336" y="189139"/>
            <a:ext cx="12049327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59173B-0E0E-160A-8A58-5FAF6B9E6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9731"/>
              </p:ext>
            </p:extLst>
          </p:nvPr>
        </p:nvGraphicFramePr>
        <p:xfrm>
          <a:off x="6134556" y="4131073"/>
          <a:ext cx="5558816" cy="223559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89085">
                  <a:extLst>
                    <a:ext uri="{9D8B030D-6E8A-4147-A177-3AD203B41FA5}">
                      <a16:colId xmlns:a16="http://schemas.microsoft.com/office/drawing/2014/main" val="4058035769"/>
                    </a:ext>
                  </a:extLst>
                </a:gridCol>
                <a:gridCol w="2570001">
                  <a:extLst>
                    <a:ext uri="{9D8B030D-6E8A-4147-A177-3AD203B41FA5}">
                      <a16:colId xmlns:a16="http://schemas.microsoft.com/office/drawing/2014/main" val="1056390318"/>
                    </a:ext>
                  </a:extLst>
                </a:gridCol>
                <a:gridCol w="899730">
                  <a:extLst>
                    <a:ext uri="{9D8B030D-6E8A-4147-A177-3AD203B41FA5}">
                      <a16:colId xmlns:a16="http://schemas.microsoft.com/office/drawing/2014/main" val="3869049182"/>
                    </a:ext>
                  </a:extLst>
                </a:gridCol>
              </a:tblGrid>
              <a:tr h="5828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Roll. 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989616"/>
                  </a:ext>
                </a:extLst>
              </a:tr>
              <a:tr h="398879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Mridul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Sharma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2300290129007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131330"/>
                  </a:ext>
                </a:extLst>
              </a:tr>
              <a:tr h="398879"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Mayank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Kumar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2300290129006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36847"/>
                  </a:ext>
                </a:extLst>
              </a:tr>
              <a:tr h="398879"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Vikas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Yadav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2300290129015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799100"/>
                  </a:ext>
                </a:extLst>
              </a:tr>
              <a:tr h="398879">
                <a:tc>
                  <a:txBody>
                    <a:bodyPr/>
                    <a:lstStyle/>
                    <a:p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3536395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AE73F3F-6D5A-F09C-B0E2-3917E1640A06}"/>
              </a:ext>
            </a:extLst>
          </p:cNvPr>
          <p:cNvSpPr txBox="1"/>
          <p:nvPr/>
        </p:nvSpPr>
        <p:spPr>
          <a:xfrm>
            <a:off x="7911548" y="3524928"/>
            <a:ext cx="2782957" cy="46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2400" b="1" dirty="0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Project Members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BD96333-11C6-C403-6CC5-90303FD9D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75644"/>
              </p:ext>
            </p:extLst>
          </p:nvPr>
        </p:nvGraphicFramePr>
        <p:xfrm>
          <a:off x="330249" y="4291997"/>
          <a:ext cx="4669277" cy="109991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288240">
                  <a:extLst>
                    <a:ext uri="{9D8B030D-6E8A-4147-A177-3AD203B41FA5}">
                      <a16:colId xmlns:a16="http://schemas.microsoft.com/office/drawing/2014/main" val="4058035769"/>
                    </a:ext>
                  </a:extLst>
                </a:gridCol>
                <a:gridCol w="2381037">
                  <a:extLst>
                    <a:ext uri="{9D8B030D-6E8A-4147-A177-3AD203B41FA5}">
                      <a16:colId xmlns:a16="http://schemas.microsoft.com/office/drawing/2014/main" val="1056390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 of Supervisor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Designation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989616"/>
                  </a:ext>
                </a:extLst>
              </a:tr>
              <a:tr h="39887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Dr. Sunil Kumar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Associate Professor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513133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75AF582-61F2-3482-5F7B-FAB752C931FF}"/>
              </a:ext>
            </a:extLst>
          </p:cNvPr>
          <p:cNvSpPr txBox="1"/>
          <p:nvPr/>
        </p:nvSpPr>
        <p:spPr>
          <a:xfrm>
            <a:off x="481404" y="3524928"/>
            <a:ext cx="3799049" cy="450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Arimo Bold"/>
                <a:sym typeface="Arimo Bold"/>
              </a:rPr>
              <a:t>Guided By:</a:t>
            </a:r>
          </a:p>
        </p:txBody>
      </p:sp>
    </p:spTree>
    <p:extLst>
      <p:ext uri="{BB962C8B-B14F-4D97-AF65-F5344CB8AC3E}">
        <p14:creationId xmlns:p14="http://schemas.microsoft.com/office/powerpoint/2010/main" val="440059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DEC6-EFF5-7794-A8B1-E128B433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3162" y="1438912"/>
            <a:ext cx="3414560" cy="67002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  <a:cs typeface="Playfair Display Bold" pitchFamily="34" charset="-120"/>
              </a:rPr>
              <a:t>Project Abstract 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9DE03367-494F-9819-1E93-C4BC8FC82DB1}"/>
              </a:ext>
            </a:extLst>
          </p:cNvPr>
          <p:cNvSpPr/>
          <p:nvPr/>
        </p:nvSpPr>
        <p:spPr>
          <a:xfrm>
            <a:off x="45395" y="192397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sp>
        <p:nvSpPr>
          <p:cNvPr id="10" name="Rectangle 9"/>
          <p:cNvSpPr/>
          <p:nvPr/>
        </p:nvSpPr>
        <p:spPr>
          <a:xfrm>
            <a:off x="1205946" y="2337913"/>
            <a:ext cx="948855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Today world the growing infrastructure, This project propose the designing and development of an it system log </a:t>
            </a:r>
            <a:r>
              <a:rPr lang="en-US" sz="2000" dirty="0" err="1"/>
              <a:t>analyser</a:t>
            </a:r>
            <a:r>
              <a:rPr lang="en-US" sz="2000" dirty="0"/>
              <a:t> developed in python. A mechanism that was established to gather the data and information automatically based on system logs created by it infrastructures. In this project we identify the cybersecurity </a:t>
            </a:r>
            <a:r>
              <a:rPr lang="en-US" sz="2000" dirty="0" err="1"/>
              <a:t>fuelled</a:t>
            </a:r>
            <a:r>
              <a:rPr lang="en-US" sz="2000" dirty="0"/>
              <a:t> approaches and also identify the USER , LOG IN, changes coming into system </a:t>
            </a:r>
            <a:r>
              <a:rPr lang="en-US" sz="2000" dirty="0" err="1"/>
              <a:t>andgive</a:t>
            </a:r>
            <a:r>
              <a:rPr lang="en-US" sz="2000" dirty="0"/>
              <a:t> them into dashboard overview In the current digital world, the log of the system are becoming a primary source of information used to monitor performance, detect and prevent cyber attacks; however, the logs generated are stored. This project illustrates the need to combine Java flexibility and cybersecurity approaches to construct adaptive </a:t>
            </a:r>
            <a:r>
              <a:rPr lang="en-US" sz="2000" dirty="0" err="1"/>
              <a:t>andsmart</a:t>
            </a:r>
            <a:r>
              <a:rPr lang="en-US" sz="2000" dirty="0"/>
              <a:t> log analytics tool of contemporary IT landscape.</a:t>
            </a:r>
          </a:p>
        </p:txBody>
      </p:sp>
    </p:spTree>
    <p:extLst>
      <p:ext uri="{BB962C8B-B14F-4D97-AF65-F5344CB8AC3E}">
        <p14:creationId xmlns:p14="http://schemas.microsoft.com/office/powerpoint/2010/main" val="214707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26ED-2672-46AF-F082-D3355874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053" y="1572647"/>
            <a:ext cx="5330844" cy="71997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Goals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1BEE4-040B-E441-AE7B-CECFB272C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642" y="2697017"/>
            <a:ext cx="10492716" cy="3064258"/>
          </a:xfrm>
        </p:spPr>
        <p:txBody>
          <a:bodyPr>
            <a:norm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Troubleshooting</a:t>
            </a:r>
            <a:r>
              <a:rPr lang="en-US" sz="22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Diagnostics:</a:t>
            </a:r>
            <a:r>
              <a:rPr lang="en-US" sz="22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Identify</a:t>
            </a:r>
            <a:r>
              <a:rPr lang="en-US" sz="22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2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diagnose</a:t>
            </a:r>
            <a:r>
              <a:rPr lang="en-US" sz="22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issues,</a:t>
            </a:r>
            <a:r>
              <a:rPr lang="en-US" sz="22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errors,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or</a:t>
            </a:r>
            <a:r>
              <a:rPr lang="en-US" sz="22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anomalies</a:t>
            </a:r>
            <a:r>
              <a:rPr lang="en-US" sz="22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</a:t>
            </a:r>
            <a:r>
              <a:rPr lang="en-US" sz="22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systems</a:t>
            </a:r>
            <a:r>
              <a:rPr lang="en-US" sz="22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applications.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2700" marR="50165" algn="just">
              <a:lnSpc>
                <a:spcPct val="100000"/>
              </a:lnSpc>
            </a:pP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Analysing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logs helps pinpoint the root cause of problems and resolve</a:t>
            </a:r>
            <a:r>
              <a:rPr lang="en-US" sz="22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them efficiently.</a:t>
            </a:r>
            <a:r>
              <a:rPr lang="en-US" sz="22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</a:p>
          <a:p>
            <a:pPr marL="12700" marR="50165" algn="just">
              <a:lnSpc>
                <a:spcPct val="100000"/>
              </a:lnSpc>
            </a:pP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Performance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Monitoring: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Assess</a:t>
            </a:r>
            <a:r>
              <a:rPr lang="en-US" sz="22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performance</a:t>
            </a:r>
            <a:r>
              <a:rPr lang="en-US" sz="22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systems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applications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analyzing</a:t>
            </a:r>
            <a:r>
              <a:rPr lang="en-US" sz="22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</a:t>
            </a:r>
            <a:r>
              <a:rPr lang="en-US" sz="22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data.</a:t>
            </a:r>
            <a:r>
              <a:rPr lang="en-US" sz="22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Security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Compliance</a:t>
            </a:r>
            <a:r>
              <a:rPr lang="en-US" sz="22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Monitor</a:t>
            </a:r>
            <a:r>
              <a:rPr lang="en-US" sz="22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2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detect</a:t>
            </a:r>
            <a:r>
              <a:rPr lang="en-US" sz="22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potential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security</a:t>
            </a:r>
            <a:r>
              <a:rPr lang="en-US" sz="22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threats</a:t>
            </a:r>
            <a:r>
              <a:rPr lang="en-US" sz="22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or</a:t>
            </a:r>
            <a:r>
              <a:rPr lang="en-US" sz="22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breaches.</a:t>
            </a:r>
            <a:r>
              <a:rPr lang="en-US" sz="22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operational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behaviour</a:t>
            </a:r>
            <a:r>
              <a:rPr lang="en-US" sz="22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22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lang="en-US" sz="22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2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systems.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endParaRPr lang="en-IN" dirty="0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661918E1-30F4-10E7-6491-23E874A25846}"/>
              </a:ext>
            </a:extLst>
          </p:cNvPr>
          <p:cNvSpPr/>
          <p:nvPr/>
        </p:nvSpPr>
        <p:spPr>
          <a:xfrm>
            <a:off x="0" y="122367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</p:spTree>
    <p:extLst>
      <p:ext uri="{BB962C8B-B14F-4D97-AF65-F5344CB8AC3E}">
        <p14:creationId xmlns:p14="http://schemas.microsoft.com/office/powerpoint/2010/main" val="59725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BF7D-F945-7127-9F15-640F6C1D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906B-D29A-0A4C-6DF5-3871924D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43" y="1315374"/>
            <a:ext cx="10590635" cy="1325563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r>
              <a:rPr lang="en-US" sz="3200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Alignment with UN Sustainable Development Goals (SDGs) 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https://sdgs.un.org/goals</a:t>
            </a:r>
            <a:b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8455B601-6594-1617-6477-42F42642987E}"/>
              </a:ext>
            </a:extLst>
          </p:cNvPr>
          <p:cNvSpPr/>
          <p:nvPr/>
        </p:nvSpPr>
        <p:spPr>
          <a:xfrm>
            <a:off x="45395" y="47377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" r="-15562" b="-3291"/>
            </a:stretch>
          </a:blipFill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2B8A52D-FD31-196B-CC1F-661C94E10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525" y="2703443"/>
            <a:ext cx="3184032" cy="2991714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A2DD4785-7DFC-D0CF-B1A6-085BD3008618}"/>
              </a:ext>
            </a:extLst>
          </p:cNvPr>
          <p:cNvSpPr/>
          <p:nvPr/>
        </p:nvSpPr>
        <p:spPr>
          <a:xfrm>
            <a:off x="554443" y="2863045"/>
            <a:ext cx="7580890" cy="3273804"/>
          </a:xfrm>
          <a:prstGeom prst="roundRect">
            <a:avLst>
              <a:gd name="adj" fmla="val 168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pPr algn="just">
              <a:lnSpc>
                <a:spcPts val="2600"/>
              </a:lnSpc>
            </a:pPr>
            <a:r>
              <a:rPr lang="en-US" sz="2000" b="1" dirty="0">
                <a:solidFill>
                  <a:srgbClr val="39393C"/>
                </a:solidFill>
                <a:latin typeface="Cambria" panose="02040503050406030204" pitchFamily="18" charset="0"/>
                <a:ea typeface="Cambria" panose="02040503050406030204" pitchFamily="18" charset="0"/>
                <a:cs typeface="Playfair Display Bold" pitchFamily="34" charset="-120"/>
              </a:rPr>
              <a:t>SDG 7: Affordable and Clean Energy</a:t>
            </a: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Purpose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purpose is to provide organizations with a powerful tool to monitor, analyze, and optimize system logs in real time. </a:t>
            </a: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Alignment 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Promoting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energy efficiency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IT systems. Optimized log monitoring reduces wasted computational resources, lowers server energy consumption, and supports the integration of greener, cloud-based infrastructures. By improving system performance and enabling predictive maintenance, the tool indirectly contributes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increasing the share of clean and efficient energy use in the global IT ecosystem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dirty="0"/>
          </a:p>
          <a:p>
            <a:pPr>
              <a:lnSpc>
                <a:spcPts val="26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6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568D-3050-6438-93B2-E5AF9F44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435" y="1401549"/>
            <a:ext cx="3923617" cy="626188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Technology Stack</a:t>
            </a:r>
            <a:r>
              <a:rPr lang="en-IN" sz="32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179F-098B-C6BE-CCDC-17FFD09F1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664" y="2225371"/>
            <a:ext cx="9443823" cy="3413359"/>
          </a:xfrm>
        </p:spPr>
        <p:txBody>
          <a:bodyPr>
            <a:normAutofit/>
          </a:bodyPr>
          <a:lstStyle/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Cybersecurity is the practice of protecting systems, networks, and programs from digital attacks. These cyberattacks are usually aimed at accessing, changing, or destroying sensitive information; extorting money from users through ransomware; or interrupting normal business processes.</a:t>
            </a: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Implementing effective cybersecurity measures is particularly challenging today because there are more devices than people, and attackers are becoming more innovative.</a:t>
            </a: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Blockchain is a shared, immutable ledger that facilitates recording transactions and tracking assets within a business network. Business runs on information. The faster the information is received and the more accurate it is, the better. </a:t>
            </a:r>
          </a:p>
          <a:p>
            <a:endParaRPr lang="en-IN" dirty="0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9D1702A8-F748-8404-A707-617854F3245F}"/>
              </a:ext>
            </a:extLst>
          </p:cNvPr>
          <p:cNvSpPr/>
          <p:nvPr/>
        </p:nvSpPr>
        <p:spPr>
          <a:xfrm>
            <a:off x="45395" y="65260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</p:spTree>
    <p:extLst>
      <p:ext uri="{BB962C8B-B14F-4D97-AF65-F5344CB8AC3E}">
        <p14:creationId xmlns:p14="http://schemas.microsoft.com/office/powerpoint/2010/main" val="33759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B69E-B5BD-0D7E-9B15-D6BC1949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66" y="1451332"/>
            <a:ext cx="2103466" cy="915615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FC07D4E2-A3F6-A02D-16A6-CDB2E8ABE96C}"/>
              </a:ext>
            </a:extLst>
          </p:cNvPr>
          <p:cNvSpPr/>
          <p:nvPr/>
        </p:nvSpPr>
        <p:spPr>
          <a:xfrm>
            <a:off x="0" y="46407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979596"/>
              </p:ext>
            </p:extLst>
          </p:nvPr>
        </p:nvGraphicFramePr>
        <p:xfrm>
          <a:off x="3007151" y="1092296"/>
          <a:ext cx="8927183" cy="56092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3123">
                  <a:extLst>
                    <a:ext uri="{9D8B030D-6E8A-4147-A177-3AD203B41FA5}">
                      <a16:colId xmlns:a16="http://schemas.microsoft.com/office/drawing/2014/main" val="3716278076"/>
                    </a:ext>
                  </a:extLst>
                </a:gridCol>
                <a:gridCol w="2054309">
                  <a:extLst>
                    <a:ext uri="{9D8B030D-6E8A-4147-A177-3AD203B41FA5}">
                      <a16:colId xmlns:a16="http://schemas.microsoft.com/office/drawing/2014/main" val="56997554"/>
                    </a:ext>
                  </a:extLst>
                </a:gridCol>
                <a:gridCol w="2055168">
                  <a:extLst>
                    <a:ext uri="{9D8B030D-6E8A-4147-A177-3AD203B41FA5}">
                      <a16:colId xmlns:a16="http://schemas.microsoft.com/office/drawing/2014/main" val="1326770821"/>
                    </a:ext>
                  </a:extLst>
                </a:gridCol>
                <a:gridCol w="2604583">
                  <a:extLst>
                    <a:ext uri="{9D8B030D-6E8A-4147-A177-3AD203B41FA5}">
                      <a16:colId xmlns:a16="http://schemas.microsoft.com/office/drawing/2014/main" val="1084357807"/>
                    </a:ext>
                  </a:extLst>
                </a:gridCol>
              </a:tblGrid>
              <a:tr h="3072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    S. NO.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         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         Title 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Description / Proposed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253904"/>
                  </a:ext>
                </a:extLst>
              </a:tr>
              <a:tr h="12290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        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       1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Xu, Wei, Ling Huang, Armando Fox, David Patterson, and Michael Jordan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Detecting large-scale system problems by mining console logs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Proposed mine this rich source of information to automatically detect system runtime problems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8666196"/>
                  </a:ext>
                </a:extLst>
              </a:tr>
              <a:tr h="18436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            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               2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He, Pingping, Jieming Zhu, Zibin Zheng, and Michael R. Lyu 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System log analysis for anomaly detection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Proposed a system log analysis for anomaly detection has evolved significantly with the advent of deep learning techniques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7176437"/>
                  </a:ext>
                </a:extLst>
              </a:tr>
              <a:tr h="21508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       3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Yuan, Ding, et al</a:t>
                      </a:r>
                      <a:br>
                        <a:rPr lang="en-US" sz="1800">
                          <a:effectLst/>
                        </a:rPr>
                      </a:b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An analysis of production failures in distributed data-intensive systems.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 comprehensive study of large no. of user-reported failures across systems indicates that most failures can be emphasizing the potential for targeted testing.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6872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00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FC07D4E2-A3F6-A02D-16A6-CDB2E8ABE96C}"/>
              </a:ext>
            </a:extLst>
          </p:cNvPr>
          <p:cNvSpPr/>
          <p:nvPr/>
        </p:nvSpPr>
        <p:spPr>
          <a:xfrm>
            <a:off x="9427" y="131248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83B69E-B5BD-0D7E-9B15-D6BC1949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419507"/>
            <a:ext cx="2439855" cy="1045889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r>
              <a:rPr lang="en-IN" dirty="0"/>
              <a:t>	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324310"/>
              </p:ext>
            </p:extLst>
          </p:nvPr>
        </p:nvGraphicFramePr>
        <p:xfrm>
          <a:off x="1911125" y="1754459"/>
          <a:ext cx="10280873" cy="50627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8715">
                  <a:extLst>
                    <a:ext uri="{9D8B030D-6E8A-4147-A177-3AD203B41FA5}">
                      <a16:colId xmlns:a16="http://schemas.microsoft.com/office/drawing/2014/main" val="2294292873"/>
                    </a:ext>
                  </a:extLst>
                </a:gridCol>
                <a:gridCol w="2365818">
                  <a:extLst>
                    <a:ext uri="{9D8B030D-6E8A-4147-A177-3AD203B41FA5}">
                      <a16:colId xmlns:a16="http://schemas.microsoft.com/office/drawing/2014/main" val="996944624"/>
                    </a:ext>
                  </a:extLst>
                </a:gridCol>
                <a:gridCol w="2366806">
                  <a:extLst>
                    <a:ext uri="{9D8B030D-6E8A-4147-A177-3AD203B41FA5}">
                      <a16:colId xmlns:a16="http://schemas.microsoft.com/office/drawing/2014/main" val="3760594740"/>
                    </a:ext>
                  </a:extLst>
                </a:gridCol>
                <a:gridCol w="2999534">
                  <a:extLst>
                    <a:ext uri="{9D8B030D-6E8A-4147-A177-3AD203B41FA5}">
                      <a16:colId xmlns:a16="http://schemas.microsoft.com/office/drawing/2014/main" val="2918096738"/>
                    </a:ext>
                  </a:extLst>
                </a:gridCol>
              </a:tblGrid>
              <a:tr h="14517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       4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Lou, Jian-</a:t>
                      </a:r>
                      <a:r>
                        <a:rPr lang="en-US" sz="1800" dirty="0" err="1">
                          <a:effectLst/>
                        </a:rPr>
                        <a:t>Guang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Qiang</a:t>
                      </a:r>
                      <a:r>
                        <a:rPr lang="en-US" sz="1800" dirty="0">
                          <a:effectLst/>
                        </a:rPr>
                        <a:t> Fu, </a:t>
                      </a:r>
                      <a:r>
                        <a:rPr lang="en-US" sz="1800" dirty="0" err="1">
                          <a:effectLst/>
                        </a:rPr>
                        <a:t>Shengqi</a:t>
                      </a:r>
                      <a:r>
                        <a:rPr lang="en-US" sz="1800" dirty="0">
                          <a:effectLst/>
                        </a:rPr>
                        <a:t> Yang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Mining Invariants from Console Logs for System Problem Detection.</a:t>
                      </a:r>
                      <a:br>
                        <a:rPr lang="en-US" sz="1800" dirty="0">
                          <a:effectLst/>
                        </a:rPr>
                      </a:b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Mining invariants from console logs is a critical approach for detecting system problems in large-scale distributed environments.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8149030"/>
                  </a:ext>
                </a:extLst>
              </a:tr>
              <a:tr h="16332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       5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Fu, </a:t>
                      </a:r>
                      <a:r>
                        <a:rPr lang="en-US" sz="1800" dirty="0" err="1">
                          <a:effectLst/>
                        </a:rPr>
                        <a:t>Qiang</a:t>
                      </a:r>
                      <a:r>
                        <a:rPr lang="en-US" sz="1800" dirty="0">
                          <a:effectLst/>
                        </a:rPr>
                        <a:t>, James Lou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Execution Anomaly Detection in Distributed Systems through Unstructured Log Analysis.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Execution anomaly detection through unstructured log analysis is a critical area of research due to the complexity and scaling of modern IT infrastructures. 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857971"/>
                  </a:ext>
                </a:extLst>
              </a:tr>
              <a:tr h="16332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       6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Chuvakin</a:t>
                      </a:r>
                      <a:r>
                        <a:rPr lang="en-US" sz="1800" dirty="0">
                          <a:effectLst/>
                        </a:rPr>
                        <a:t>, Anton, Kevin Schmidt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The Authoritative Guide to Understanding the Concepts Surrounding Logging and Log Management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Logging serves for transparency and accountability in system operations. 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246039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860838"/>
              </p:ext>
            </p:extLst>
          </p:nvPr>
        </p:nvGraphicFramePr>
        <p:xfrm>
          <a:off x="1911125" y="1383619"/>
          <a:ext cx="102808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549">
                  <a:extLst>
                    <a:ext uri="{9D8B030D-6E8A-4147-A177-3AD203B41FA5}">
                      <a16:colId xmlns:a16="http://schemas.microsoft.com/office/drawing/2014/main" val="3468021711"/>
                    </a:ext>
                  </a:extLst>
                </a:gridCol>
                <a:gridCol w="2318923">
                  <a:extLst>
                    <a:ext uri="{9D8B030D-6E8A-4147-A177-3AD203B41FA5}">
                      <a16:colId xmlns:a16="http://schemas.microsoft.com/office/drawing/2014/main" val="2535498744"/>
                    </a:ext>
                  </a:extLst>
                </a:gridCol>
                <a:gridCol w="2392306">
                  <a:extLst>
                    <a:ext uri="{9D8B030D-6E8A-4147-A177-3AD203B41FA5}">
                      <a16:colId xmlns:a16="http://schemas.microsoft.com/office/drawing/2014/main" val="2404502007"/>
                    </a:ext>
                  </a:extLst>
                </a:gridCol>
                <a:gridCol w="3022097">
                  <a:extLst>
                    <a:ext uri="{9D8B030D-6E8A-4147-A177-3AD203B41FA5}">
                      <a16:colId xmlns:a16="http://schemas.microsoft.com/office/drawing/2014/main" val="48600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05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53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FC07D4E2-A3F6-A02D-16A6-CDB2E8ABE96C}"/>
              </a:ext>
            </a:extLst>
          </p:cNvPr>
          <p:cNvSpPr/>
          <p:nvPr/>
        </p:nvSpPr>
        <p:spPr>
          <a:xfrm>
            <a:off x="90791" y="131248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83B69E-B5BD-0D7E-9B15-D6BC194946C6}"/>
              </a:ext>
            </a:extLst>
          </p:cNvPr>
          <p:cNvSpPr txBox="1">
            <a:spLocks/>
          </p:cNvSpPr>
          <p:nvPr/>
        </p:nvSpPr>
        <p:spPr>
          <a:xfrm>
            <a:off x="-75415" y="1501669"/>
            <a:ext cx="2096720" cy="10066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r>
              <a:rPr lang="en-IN" sz="3200" dirty="0"/>
              <a:t>	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098117"/>
              </p:ext>
            </p:extLst>
          </p:nvPr>
        </p:nvGraphicFramePr>
        <p:xfrm>
          <a:off x="2021305" y="1328286"/>
          <a:ext cx="10039149" cy="5096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8787">
                  <a:extLst>
                    <a:ext uri="{9D8B030D-6E8A-4147-A177-3AD203B41FA5}">
                      <a16:colId xmlns:a16="http://schemas.microsoft.com/office/drawing/2014/main" val="3817019034"/>
                    </a:ext>
                  </a:extLst>
                </a:gridCol>
                <a:gridCol w="2310193">
                  <a:extLst>
                    <a:ext uri="{9D8B030D-6E8A-4147-A177-3AD203B41FA5}">
                      <a16:colId xmlns:a16="http://schemas.microsoft.com/office/drawing/2014/main" val="1865268343"/>
                    </a:ext>
                  </a:extLst>
                </a:gridCol>
                <a:gridCol w="2311157">
                  <a:extLst>
                    <a:ext uri="{9D8B030D-6E8A-4147-A177-3AD203B41FA5}">
                      <a16:colId xmlns:a16="http://schemas.microsoft.com/office/drawing/2014/main" val="4035941583"/>
                    </a:ext>
                  </a:extLst>
                </a:gridCol>
                <a:gridCol w="2929012">
                  <a:extLst>
                    <a:ext uri="{9D8B030D-6E8A-4147-A177-3AD203B41FA5}">
                      <a16:colId xmlns:a16="http://schemas.microsoft.com/office/drawing/2014/main" val="84942914"/>
                    </a:ext>
                  </a:extLst>
                </a:gridCol>
              </a:tblGrid>
              <a:tr h="9441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                 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Zhang, Jieming, et al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Robust Log-based Anomaly Detection on Unstable Log Data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Robust log-based anomaly detection on unstable log data is a critical area of research.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extLst>
                  <a:ext uri="{0D108BD9-81ED-4DB2-BD59-A6C34878D82A}">
                    <a16:rowId xmlns:a16="http://schemas.microsoft.com/office/drawing/2014/main" val="3002377095"/>
                  </a:ext>
                </a:extLst>
              </a:tr>
              <a:tr h="5729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                  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Splunk Inc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The Essential Guide to Machine Data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The platform excels in managing large volumes of machine-generated data, enabling organizations to derive actionable insights from their operational data.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extLst>
                  <a:ext uri="{0D108BD9-81ED-4DB2-BD59-A6C34878D82A}">
                    <a16:rowId xmlns:a16="http://schemas.microsoft.com/office/drawing/2014/main" val="3783860837"/>
                  </a:ext>
                </a:extLst>
              </a:tr>
              <a:tr h="5729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                  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He, </a:t>
                      </a:r>
                      <a:r>
                        <a:rPr lang="en-US" sz="1600" dirty="0" err="1">
                          <a:effectLst/>
                        </a:rPr>
                        <a:t>Pingping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Jieming</a:t>
                      </a:r>
                      <a:r>
                        <a:rPr lang="en-US" sz="1600" dirty="0">
                          <a:effectLst/>
                        </a:rPr>
                        <a:t> Zhu, 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Loghub: A Large Collection of System Log Datasets for AI-driven Log Analytics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It serves as a foundational element in various domains, from classical aesthetics to contemporary applications in cultural practices.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extLst>
                  <a:ext uri="{0D108BD9-81ED-4DB2-BD59-A6C34878D82A}">
                    <a16:rowId xmlns:a16="http://schemas.microsoft.com/office/drawing/2014/main" val="1059226987"/>
                  </a:ext>
                </a:extLst>
              </a:tr>
              <a:tr h="5729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                10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Li, </a:t>
                      </a:r>
                      <a:r>
                        <a:rPr lang="en-US" sz="1600" dirty="0" err="1">
                          <a:effectLst/>
                        </a:rPr>
                        <a:t>Zhenpeng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Log</a:t>
                      </a:r>
                      <a:r>
                        <a:rPr lang="en-US" sz="1600" baseline="0" dirty="0">
                          <a:effectLst/>
                        </a:rPr>
                        <a:t>  </a:t>
                      </a:r>
                      <a:r>
                        <a:rPr lang="en-US" sz="1600" baseline="0" dirty="0" err="1">
                          <a:effectLst/>
                        </a:rPr>
                        <a:t>Parsong</a:t>
                      </a:r>
                      <a:r>
                        <a:rPr lang="en-US" sz="1600" baseline="0" dirty="0">
                          <a:effectLst/>
                        </a:rPr>
                        <a:t> :</a:t>
                      </a:r>
                      <a:r>
                        <a:rPr lang="en-US" sz="1600" dirty="0">
                          <a:effectLst/>
                        </a:rPr>
                        <a:t>Challenges and Solutions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It serves as a foundational element from classical aesthetics to contemporary applications in cultural practices.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59535" marR="59535" marT="0" marB="0"/>
                </a:tc>
                <a:extLst>
                  <a:ext uri="{0D108BD9-81ED-4DB2-BD59-A6C34878D82A}">
                    <a16:rowId xmlns:a16="http://schemas.microsoft.com/office/drawing/2014/main" val="3793749934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230563" y="1547813"/>
            <a:ext cx="647387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47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9CE5-B130-0EC8-B8B5-AA89DA3F1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" y="1394538"/>
            <a:ext cx="5882819" cy="67494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 and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F2962-0FCA-5EFB-BF51-FD90A8C00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24" y="2369968"/>
            <a:ext cx="7586119" cy="4077965"/>
          </a:xfrm>
        </p:spPr>
        <p:txBody>
          <a:bodyPr>
            <a:normAutofit fontScale="77500" lnSpcReduction="20000"/>
          </a:bodyPr>
          <a:lstStyle/>
          <a:p>
            <a:pPr marL="12700" marR="588645" algn="just">
              <a:lnSpc>
                <a:spcPct val="100000"/>
              </a:lnSpc>
              <a:spcBef>
                <a:spcPts val="100"/>
              </a:spcBef>
            </a:pP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methodology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analyzing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logs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typically involves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series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structured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steps</a:t>
            </a:r>
            <a:r>
              <a:rPr lang="en-US" sz="29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effectively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process,</a:t>
            </a:r>
            <a:r>
              <a:rPr lang="en-US" sz="29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analyze,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interpret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data.</a:t>
            </a:r>
          </a:p>
          <a:p>
            <a:pPr marL="12700" marR="588645" algn="just">
              <a:lnSpc>
                <a:spcPct val="100000"/>
              </a:lnSpc>
              <a:spcBef>
                <a:spcPts val="100"/>
              </a:spcBef>
            </a:pP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Collection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involves gathering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sources.</a:t>
            </a:r>
            <a:r>
              <a:rPr lang="en-US" sz="29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Logs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can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come</a:t>
            </a:r>
            <a:r>
              <a:rPr lang="en-US" sz="29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</a:t>
            </a:r>
            <a:r>
              <a:rPr lang="en-US" sz="29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servers,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applications,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network</a:t>
            </a:r>
            <a:r>
              <a:rPr lang="en-US" sz="29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devices,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databases,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security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appliances.</a:t>
            </a:r>
          </a:p>
          <a:p>
            <a:pPr marL="12700" marR="588645" algn="just">
              <a:lnSpc>
                <a:spcPct val="100000"/>
              </a:lnSpc>
              <a:spcBef>
                <a:spcPts val="100"/>
              </a:spcBef>
            </a:pP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Normalization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</a:t>
            </a:r>
            <a:r>
              <a:rPr lang="en-US" sz="29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9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process</a:t>
            </a:r>
            <a:r>
              <a:rPr lang="en-US" sz="29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29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cleaning</a:t>
            </a:r>
            <a:r>
              <a:rPr lang="en-US" sz="29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logs</a:t>
            </a:r>
            <a:r>
              <a:rPr lang="en-US" sz="29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</a:t>
            </a:r>
            <a:r>
              <a:rPr lang="en-US" sz="29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that</a:t>
            </a:r>
            <a:r>
              <a:rPr lang="en-US" sz="29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they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adhere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9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same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formats.</a:t>
            </a:r>
          </a:p>
          <a:p>
            <a:pPr marL="12700" marR="588645" algn="just">
              <a:lnSpc>
                <a:spcPct val="100000"/>
              </a:lnSpc>
              <a:spcBef>
                <a:spcPts val="100"/>
              </a:spcBef>
            </a:pPr>
            <a:r>
              <a:rPr lang="en-US" sz="29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Pattern recognition</a:t>
            </a:r>
            <a:r>
              <a:rPr lang="en-US" sz="29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900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process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29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identifying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patterns</a:t>
            </a:r>
            <a:r>
              <a:rPr lang="en-US" sz="29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</a:t>
            </a:r>
            <a:r>
              <a:rPr lang="en-US" sz="29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logs,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that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individual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</a:t>
            </a:r>
            <a:r>
              <a:rPr lang="en-US" sz="29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entries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can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be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handled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appropriately.</a:t>
            </a:r>
            <a:r>
              <a:rPr lang="en-US" sz="29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Like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with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any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type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analysis,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your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success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with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analysis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ultimately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comes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down</a:t>
            </a:r>
            <a:r>
              <a:rPr lang="en-US" sz="29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lang="en-US" sz="29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techniques</a:t>
            </a:r>
            <a:r>
              <a:rPr lang="en-US" sz="29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you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use</a:t>
            </a:r>
            <a:r>
              <a:rPr lang="en-US" sz="29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lang="en-US" sz="29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interpret</a:t>
            </a:r>
            <a:r>
              <a:rPr lang="en-US" sz="29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9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data.</a:t>
            </a:r>
            <a:endParaRPr lang="en-US" sz="29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endParaRPr lang="en-IN" dirty="0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5B69194-88A0-8986-9626-E78AFA089114}"/>
              </a:ext>
            </a:extLst>
          </p:cNvPr>
          <p:cNvSpPr/>
          <p:nvPr/>
        </p:nvSpPr>
        <p:spPr>
          <a:xfrm>
            <a:off x="45395" y="48168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pic>
        <p:nvPicPr>
          <p:cNvPr id="7" name="Content Placeholder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317" y="2069487"/>
            <a:ext cx="4175578" cy="392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09826" y="5866802"/>
            <a:ext cx="219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Fig 1. Flowchart of Log analyzer</a:t>
            </a:r>
          </a:p>
        </p:txBody>
      </p:sp>
    </p:spTree>
    <p:extLst>
      <p:ext uri="{BB962C8B-B14F-4D97-AF65-F5344CB8AC3E}">
        <p14:creationId xmlns:p14="http://schemas.microsoft.com/office/powerpoint/2010/main" val="1116752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2CCC-5B52-2BEF-EA2F-E542F0304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A557-BFDA-9BE1-40C5-A673A437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290" y="1073442"/>
            <a:ext cx="3607319" cy="74862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Workflow Diagram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C0D92B3-3FE8-48B5-3CFD-8ACCD459B85F}"/>
              </a:ext>
            </a:extLst>
          </p:cNvPr>
          <p:cNvSpPr/>
          <p:nvPr/>
        </p:nvSpPr>
        <p:spPr>
          <a:xfrm>
            <a:off x="45395" y="27553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143" y="1291472"/>
            <a:ext cx="5065484" cy="54581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68" y="1822062"/>
            <a:ext cx="4837741" cy="47386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93379" y="5276726"/>
            <a:ext cx="2002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Fig. 2 - ER Diagram of LOG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92609" y="4771481"/>
            <a:ext cx="1594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Fig. 3 - Steps of working of LOG ANALYZER</a:t>
            </a:r>
          </a:p>
        </p:txBody>
      </p:sp>
    </p:spTree>
    <p:extLst>
      <p:ext uri="{BB962C8B-B14F-4D97-AF65-F5344CB8AC3E}">
        <p14:creationId xmlns:p14="http://schemas.microsoft.com/office/powerpoint/2010/main" val="2812787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349F-CF9E-17A5-E471-C0919750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820" y="1258957"/>
            <a:ext cx="6050605" cy="64693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Patent/Research Paper (if any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)  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0230F9B3-7376-2A1F-D8BE-65EC66152EA6}"/>
              </a:ext>
            </a:extLst>
          </p:cNvPr>
          <p:cNvSpPr/>
          <p:nvPr/>
        </p:nvSpPr>
        <p:spPr>
          <a:xfrm>
            <a:off x="45395" y="109115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E5C4F0-8ED5-F3E5-3078-015E76CBF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78" y="1905892"/>
            <a:ext cx="5777948" cy="45449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8D156D-BCCC-7636-906C-A35E4D587588}"/>
              </a:ext>
            </a:extLst>
          </p:cNvPr>
          <p:cNvSpPr txBox="1"/>
          <p:nvPr/>
        </p:nvSpPr>
        <p:spPr>
          <a:xfrm>
            <a:off x="450574" y="2517913"/>
            <a:ext cx="47045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Paper Submitted to the conference on “Emerging VLSI and Semiconductor Technology for AI and Computing Application(EVST 2026)” which is </a:t>
            </a:r>
            <a:r>
              <a:rPr lang="en-US" dirty="0" err="1"/>
              <a:t>organised</a:t>
            </a:r>
            <a:r>
              <a:rPr lang="en-US" dirty="0"/>
              <a:t> by “KIET Deemed to be University.”</a:t>
            </a:r>
          </a:p>
          <a:p>
            <a:endParaRPr lang="en-US" dirty="0"/>
          </a:p>
          <a:p>
            <a:r>
              <a:rPr lang="en-US" dirty="0"/>
              <a:t>Paper ID – 1268</a:t>
            </a:r>
          </a:p>
          <a:p>
            <a:endParaRPr lang="en-US" dirty="0"/>
          </a:p>
          <a:p>
            <a:r>
              <a:rPr lang="en-US" dirty="0"/>
              <a:t>Status - Communicated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0230F9B3-7376-2A1F-D8BE-65EC66152EA6}"/>
              </a:ext>
            </a:extLst>
          </p:cNvPr>
          <p:cNvSpPr/>
          <p:nvPr/>
        </p:nvSpPr>
        <p:spPr>
          <a:xfrm>
            <a:off x="90791" y="197962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23349F-CF9E-17A5-E471-C0919750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878" y="1420557"/>
            <a:ext cx="3523697" cy="119720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Patent/Research Paper (if any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)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307" y="1243851"/>
            <a:ext cx="8012784" cy="54491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0791" y="2617759"/>
            <a:ext cx="38940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Title of Patent : BLOCKCHAIN-POWERED IT SYSTEM LOG ANALYZER FOR ENHANCED SECURITY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Filed in April 2025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Published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upto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September 2025</a:t>
            </a:r>
          </a:p>
        </p:txBody>
      </p:sp>
    </p:spTree>
    <p:extLst>
      <p:ext uri="{BB962C8B-B14F-4D97-AF65-F5344CB8AC3E}">
        <p14:creationId xmlns:p14="http://schemas.microsoft.com/office/powerpoint/2010/main" val="206936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D8C4-46AF-202F-1151-B2A4DC6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08" y="1139177"/>
            <a:ext cx="10515600" cy="68644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Status (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if any module developed..</a:t>
            </a:r>
            <a:r>
              <a:rPr lang="en-IN" sz="32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6402326F-7D3E-DECC-844F-3A4231DF42B5}"/>
              </a:ext>
            </a:extLst>
          </p:cNvPr>
          <p:cNvSpPr/>
          <p:nvPr/>
        </p:nvSpPr>
        <p:spPr>
          <a:xfrm>
            <a:off x="45395" y="27553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  <p:sp>
        <p:nvSpPr>
          <p:cNvPr id="4" name="Rectangle 3"/>
          <p:cNvSpPr/>
          <p:nvPr/>
        </p:nvSpPr>
        <p:spPr>
          <a:xfrm>
            <a:off x="351508" y="2460430"/>
            <a:ext cx="48174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u="sng" dirty="0">
                <a:latin typeface="Cambria" panose="02040503050406030204" pitchFamily="18" charset="0"/>
                <a:ea typeface="Cambria" panose="02040503050406030204" pitchFamily="18" charset="0"/>
              </a:rPr>
              <a:t>Module Completion Status</a:t>
            </a:r>
          </a:p>
          <a:p>
            <a:endParaRPr lang="en-US" sz="20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User Interface (UI) Module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Log File Upload Module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Filtering Module (by Severity)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Log Parsing &amp; Display Module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Export Logs Module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Advanced Features (Future Work)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9308" y="2460430"/>
            <a:ext cx="53644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u="sng" dirty="0">
                <a:latin typeface="Cambria" panose="02040503050406030204" pitchFamily="18" charset="0"/>
                <a:ea typeface="Cambria" panose="02040503050406030204" pitchFamily="18" charset="0"/>
              </a:rPr>
              <a:t>Project Status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GUI Development: Completed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"Open Log File" button implemented.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Dropdown filter for severity levels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Table structure for displaying logs with columns Timestamp, Severity, Message.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"Export Logs" button is available.</a:t>
            </a:r>
          </a:p>
        </p:txBody>
      </p:sp>
    </p:spTree>
    <p:extLst>
      <p:ext uri="{BB962C8B-B14F-4D97-AF65-F5344CB8AC3E}">
        <p14:creationId xmlns:p14="http://schemas.microsoft.com/office/powerpoint/2010/main" val="1681855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9170A-0FBE-5C45-B43F-5165573F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416" y="1286159"/>
            <a:ext cx="5229712" cy="77039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1010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Next Steps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1EDF1-E847-732B-B515-11B953BE4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562" y="2344682"/>
            <a:ext cx="9509421" cy="3227159"/>
          </a:xfrm>
        </p:spPr>
        <p:txBody>
          <a:bodyPr>
            <a:no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</a:t>
            </a:r>
            <a:r>
              <a:rPr lang="en-US" sz="20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</a:t>
            </a:r>
            <a:r>
              <a:rPr lang="en-US" sz="20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Analyser</a:t>
            </a:r>
            <a:r>
              <a:rPr lang="en-US" sz="20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serves</a:t>
            </a:r>
            <a:r>
              <a:rPr lang="en-US" sz="20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as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critical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tool</a:t>
            </a:r>
            <a:r>
              <a:rPr lang="en-US" sz="20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lang="en-US" sz="20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maintaining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improving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0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security, performance,</a:t>
            </a:r>
            <a:r>
              <a:rPr lang="en-US" sz="20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reliability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20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IT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systems.</a:t>
            </a: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000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effectively</a:t>
            </a:r>
            <a:r>
              <a:rPr lang="en-US" sz="20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processing</a:t>
            </a:r>
            <a:r>
              <a:rPr lang="en-US" sz="2000" spc="-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analysing</a:t>
            </a:r>
            <a:r>
              <a:rPr lang="en-US" sz="2000" spc="-4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logs,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analyser</a:t>
            </a:r>
            <a:r>
              <a:rPr lang="en-US" sz="2000" spc="-1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provides</a:t>
            </a:r>
            <a:r>
              <a:rPr lang="en-US" sz="2000" spc="-1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several</a:t>
            </a:r>
            <a:r>
              <a:rPr lang="en-US" sz="2000" spc="-1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key</a:t>
            </a:r>
            <a:r>
              <a:rPr lang="en-US" sz="2000" spc="-1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benefits</a:t>
            </a:r>
            <a:r>
              <a:rPr lang="en-US" sz="2000" spc="-11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results.</a:t>
            </a: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0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Improved</a:t>
            </a:r>
            <a:r>
              <a:rPr lang="en-US" sz="2000" spc="-10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detection</a:t>
            </a:r>
            <a:r>
              <a:rPr lang="en-US" sz="2000" spc="-10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response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security</a:t>
            </a:r>
            <a:r>
              <a:rPr lang="en-US" sz="20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threats.</a:t>
            </a: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0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20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analyser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aggregates</a:t>
            </a:r>
            <a:r>
              <a:rPr lang="en-US" sz="2000" spc="-10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correlates</a:t>
            </a:r>
            <a:r>
              <a:rPr lang="en-US" sz="2000" spc="-10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</a:t>
            </a:r>
            <a:r>
              <a:rPr lang="en-US" sz="2000" spc="-1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</a:t>
            </a:r>
            <a:r>
              <a:rPr lang="en-US" sz="2000" spc="-9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sources</a:t>
            </a:r>
            <a:r>
              <a:rPr lang="en-US" sz="20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identify</a:t>
            </a:r>
            <a:r>
              <a:rPr lang="en-US" sz="20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patterns</a:t>
            </a:r>
            <a:r>
              <a:rPr lang="en-US" sz="20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0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anomalies</a:t>
            </a:r>
            <a:r>
              <a:rPr lang="en-US" sz="2000" spc="-8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indicative</a:t>
            </a:r>
            <a:r>
              <a:rPr lang="en-US" sz="20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potential</a:t>
            </a:r>
            <a:r>
              <a:rPr lang="en-US" sz="2000" spc="-9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security</a:t>
            </a:r>
            <a:r>
              <a:rPr lang="en-US" sz="2000" spc="-7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breaches.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analysing</a:t>
            </a:r>
            <a:r>
              <a:rPr lang="en-US" sz="2000" spc="-9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logs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</a:t>
            </a:r>
            <a:r>
              <a:rPr lang="en-US" sz="2000" spc="-9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firewalls,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servers,</a:t>
            </a:r>
            <a:r>
              <a:rPr lang="en-US" sz="2000" spc="-8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applications,</a:t>
            </a:r>
            <a:r>
              <a:rPr lang="en-US" sz="2000" spc="-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2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</a:t>
            </a:r>
            <a:r>
              <a:rPr lang="en-US" sz="2000" spc="-1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can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detect</a:t>
            </a:r>
            <a:r>
              <a:rPr lang="en-US" sz="2000" spc="-1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suspicious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activities, </a:t>
            </a:r>
            <a:r>
              <a:rPr lang="en-US" sz="2000" spc="-1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unauthorised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access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attempts,</a:t>
            </a:r>
            <a:r>
              <a:rPr lang="en-US" sz="2000" spc="-9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lang="en-US" sz="2000" spc="-9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1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malware </a:t>
            </a: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infections as</a:t>
            </a:r>
            <a:r>
              <a:rPr lang="en-US" sz="2000" spc="-9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security</a:t>
            </a:r>
            <a:r>
              <a:rPr lang="en-US" sz="2000" spc="-10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incidents.</a:t>
            </a:r>
            <a:r>
              <a:rPr lang="en-US" sz="2000" spc="-8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0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9E17DA7F-5CA2-A1D7-5DE5-D590D545BA24}"/>
              </a:ext>
            </a:extLst>
          </p:cNvPr>
          <p:cNvSpPr/>
          <p:nvPr/>
        </p:nvSpPr>
        <p:spPr>
          <a:xfrm>
            <a:off x="45395" y="-47861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r="-15562" b="-3291"/>
            </a:stretch>
          </a:blipFill>
        </p:spPr>
      </p:sp>
    </p:spTree>
    <p:extLst>
      <p:ext uri="{BB962C8B-B14F-4D97-AF65-F5344CB8AC3E}">
        <p14:creationId xmlns:p14="http://schemas.microsoft.com/office/powerpoint/2010/main" val="2736883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2804" y="842410"/>
            <a:ext cx="1144414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                     </a:t>
            </a: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References (IN IEEE FORMAT)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Here are references in IEEE format for sources related to IT system log analyzers:</a:t>
            </a:r>
          </a:p>
          <a:p>
            <a:pPr marL="9144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34290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Xu, Wei, Ling Huang, Armando Fox, David Patterson, and Michael Jordan.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"Detecting large-scale system problems by mining console logs."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Proceedings of the ACM SIGOPS 22nd Symposium on Operating Systems Principles (SOSP), 2009.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https://doi.org/10.1145/1629575.1629602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34290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He,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Pingping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Jieming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Zhu,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Zibin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Zheng, and Michael R.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Lyu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"Experience report: System log analysis for anomaly detection."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27th IEEE International Symposium on Software Reliability Engineering (ISSRE), 2016.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https://doi.org/10.1109/ISSRE.2016.58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34290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Yuan, Ding, et al.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"Simple testing can prevent most critical failures: An analysis of production failures in distributed data-intensive systems."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USENIX Symposium on Operating Systems Design and Implementation (OSDI), 2014.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https://www.usenix.org/conference/osdi14/technical-sessions/presentation/yuan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34290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Lou, Jian-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Guang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Qiang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Fu,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Shengqi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Yang, Ye Xu, and Jiang Li.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"Mining Invariants from Console Logs for System Problem Detection."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USENIX Annual Technical Conference, 2010.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https://www.usenix.org/legacy/event/atc10/tech/full_papers/Lou.pdf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9E17DA7F-5CA2-A1D7-5DE5-D590D545BA24}"/>
              </a:ext>
            </a:extLst>
          </p:cNvPr>
          <p:cNvSpPr/>
          <p:nvPr/>
        </p:nvSpPr>
        <p:spPr>
          <a:xfrm>
            <a:off x="0" y="102968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" r="-15562" b="-3291"/>
            </a:stretch>
          </a:blipFill>
        </p:spPr>
      </p:sp>
    </p:spTree>
    <p:extLst>
      <p:ext uri="{BB962C8B-B14F-4D97-AF65-F5344CB8AC3E}">
        <p14:creationId xmlns:p14="http://schemas.microsoft.com/office/powerpoint/2010/main" val="638985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1082" y="998028"/>
            <a:ext cx="115007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buAutoNum type="arabicPeriod" startAt="5"/>
              <a:tabLst>
                <a:tab pos="3429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Qiang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James Lou, Yi Wang, and Jiang Li.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"Execution Anomaly Detection in Distributed Systems through Unstructured Log Analysis."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IEEE International Conference on Data Mining (ICDM), 2009.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https://doi.org/10.1109/ICDM.2009.90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buAutoNum type="arabicPeriod" startAt="5"/>
              <a:tabLst>
                <a:tab pos="3429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Chuvakin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Anton, Kevin Schmidt, and Chris Phillips.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"Logging and Log Management: The Authoritative Guide to Understanding the Concepts Surrounding Logging and Log Management."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Syngress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Publishing, 2012. ISBN: 978-1597496353.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buAutoNum type="arabicPeriod" startAt="7"/>
              <a:tabLst>
                <a:tab pos="3429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Zhang,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Jieming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et al.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"Robust Log-based Anomaly Detection on Unstable Log Data."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Proceedings of the 2019 ACM Joint Meeting on European Software Engineering Conference and Symposium on the Foundations of Software Engineering (ESEC/FSE), 2019.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https://doi.org/10.1145/3338906.3338942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buAutoNum type="arabicPeriod" startAt="7"/>
              <a:tabLst>
                <a:tab pos="3429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Splunk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Inc.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"The Essential Guide to Machine Data."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Splunk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White Paper, 2014.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https://www.splunk.com/pdfs/ebooks/the-essential-guide-to-machine-data.pdf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1082" y="5657671"/>
            <a:ext cx="116986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tabLst>
                <a:tab pos="3429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9. He,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Pingping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Jieming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Zhu,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Zibin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Zheng, and Michael R.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Lyu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Loghub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A Large Collection of System Log Datasets for AI-driven Log Analytics."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2019 IEEE International Symposium on Software Reliability Engineering Workshops (ISSREW), 2019.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https://doi.org/10.1109/ISSREW.2019.00067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E17DA7F-5CA2-A1D7-5DE5-D590D545BA24}"/>
              </a:ext>
            </a:extLst>
          </p:cNvPr>
          <p:cNvSpPr/>
          <p:nvPr/>
        </p:nvSpPr>
        <p:spPr>
          <a:xfrm>
            <a:off x="45395" y="-47861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" r="-15562" b="-3291"/>
            </a:stretch>
          </a:blipFill>
        </p:spPr>
      </p:sp>
    </p:spTree>
    <p:extLst>
      <p:ext uri="{BB962C8B-B14F-4D97-AF65-F5344CB8AC3E}">
        <p14:creationId xmlns:p14="http://schemas.microsoft.com/office/powerpoint/2010/main" val="3808527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1361" y="1735327"/>
            <a:ext cx="106302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tabLst>
                <a:tab pos="3429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10. Li,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Zhenpeng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Min Zheng, and Ding Yuan.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"Log Parsing: Challenges and Solutions."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ACM Queue, 2021.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https://queue.acm.org/detail.cfm?id=3471316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9E17DA7F-5CA2-A1D7-5DE5-D590D545BA24}"/>
              </a:ext>
            </a:extLst>
          </p:cNvPr>
          <p:cNvSpPr/>
          <p:nvPr/>
        </p:nvSpPr>
        <p:spPr>
          <a:xfrm>
            <a:off x="0" y="159529"/>
            <a:ext cx="12101209" cy="1045889"/>
          </a:xfrm>
          <a:custGeom>
            <a:avLst/>
            <a:gdLst/>
            <a:ahLst/>
            <a:cxnLst/>
            <a:rect l="l" t="t" r="r" b="b"/>
            <a:pathLst>
              <a:path w="18288000" h="2091738">
                <a:moveTo>
                  <a:pt x="0" y="0"/>
                </a:moveTo>
                <a:lnTo>
                  <a:pt x="18288000" y="0"/>
                </a:lnTo>
                <a:lnTo>
                  <a:pt x="18288000" y="2091738"/>
                </a:lnTo>
                <a:lnTo>
                  <a:pt x="0" y="2091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" r="-15562" b="-3291"/>
            </a:stretch>
          </a:blipFill>
        </p:spPr>
      </p:sp>
    </p:spTree>
    <p:extLst>
      <p:ext uri="{BB962C8B-B14F-4D97-AF65-F5344CB8AC3E}">
        <p14:creationId xmlns:p14="http://schemas.microsoft.com/office/powerpoint/2010/main" val="1457782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69029" y="3233692"/>
            <a:ext cx="4853943" cy="1191422"/>
          </a:xfrm>
          <a:custGeom>
            <a:avLst/>
            <a:gdLst/>
            <a:ahLst/>
            <a:cxnLst/>
            <a:rect l="l" t="t" r="r" b="b"/>
            <a:pathLst>
              <a:path w="7280914" h="1787133">
                <a:moveTo>
                  <a:pt x="0" y="0"/>
                </a:moveTo>
                <a:lnTo>
                  <a:pt x="7280914" y="0"/>
                </a:lnTo>
                <a:lnTo>
                  <a:pt x="7280914" y="1787134"/>
                </a:lnTo>
                <a:lnTo>
                  <a:pt x="0" y="1787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2192000" cy="1413909"/>
          </a:xfrm>
          <a:custGeom>
            <a:avLst/>
            <a:gdLst/>
            <a:ahLst/>
            <a:cxnLst/>
            <a:rect l="l" t="t" r="r" b="b"/>
            <a:pathLst>
              <a:path w="18288000" h="2120864">
                <a:moveTo>
                  <a:pt x="0" y="0"/>
                </a:moveTo>
                <a:lnTo>
                  <a:pt x="18288000" y="0"/>
                </a:lnTo>
                <a:lnTo>
                  <a:pt x="18288000" y="2120864"/>
                </a:lnTo>
                <a:lnTo>
                  <a:pt x="0" y="2120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066" r="-22035" b="-253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" y="2161060"/>
            <a:ext cx="4154539" cy="4528108"/>
          </a:xfrm>
          <a:custGeom>
            <a:avLst/>
            <a:gdLst/>
            <a:ahLst/>
            <a:cxnLst/>
            <a:rect l="l" t="t" r="r" b="b"/>
            <a:pathLst>
              <a:path w="6231809" h="6792162">
                <a:moveTo>
                  <a:pt x="0" y="0"/>
                </a:moveTo>
                <a:lnTo>
                  <a:pt x="6231809" y="0"/>
                </a:lnTo>
                <a:lnTo>
                  <a:pt x="6231809" y="6792163"/>
                </a:lnTo>
                <a:lnTo>
                  <a:pt x="0" y="6792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8037461" y="2161060"/>
            <a:ext cx="4154539" cy="4528108"/>
          </a:xfrm>
          <a:custGeom>
            <a:avLst/>
            <a:gdLst/>
            <a:ahLst/>
            <a:cxnLst/>
            <a:rect l="l" t="t" r="r" b="b"/>
            <a:pathLst>
              <a:path w="6231809" h="6792162">
                <a:moveTo>
                  <a:pt x="6231809" y="0"/>
                </a:moveTo>
                <a:lnTo>
                  <a:pt x="0" y="0"/>
                </a:lnTo>
                <a:lnTo>
                  <a:pt x="0" y="6792163"/>
                </a:lnTo>
                <a:lnTo>
                  <a:pt x="6231809" y="6792163"/>
                </a:lnTo>
                <a:lnTo>
                  <a:pt x="62318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</TotalTime>
  <Words>1858</Words>
  <Application>Microsoft Office PowerPoint</Application>
  <PresentationFormat>Widescreen</PresentationFormat>
  <Paragraphs>154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Arimo Bold</vt:lpstr>
      <vt:lpstr>Calibri</vt:lpstr>
      <vt:lpstr>Calibri Light</vt:lpstr>
      <vt:lpstr>Cambria</vt:lpstr>
      <vt:lpstr>Times New Roman</vt:lpstr>
      <vt:lpstr>Office Theme</vt:lpstr>
      <vt:lpstr>        Project Presentation-I  (IT System Log Analyzer) Group Id: PCS 26 - 29</vt:lpstr>
      <vt:lpstr>Project Abstract </vt:lpstr>
      <vt:lpstr>Project Goals and Objectives</vt:lpstr>
      <vt:lpstr> Alignment with UN Sustainable Development Goals (SDGs) https://sdgs.un.org/goals </vt:lpstr>
      <vt:lpstr>Technology Stack </vt:lpstr>
      <vt:lpstr>Literature Survey </vt:lpstr>
      <vt:lpstr>Literature Survey </vt:lpstr>
      <vt:lpstr>PowerPoint Presentation</vt:lpstr>
      <vt:lpstr>Methodology and Approach</vt:lpstr>
      <vt:lpstr>Workflow Diagram</vt:lpstr>
      <vt:lpstr>Patent/Research Paper (if any)  </vt:lpstr>
      <vt:lpstr>Patent/Research Paper (if any)  </vt:lpstr>
      <vt:lpstr>Project Status (if any module developed..)</vt:lpstr>
      <vt:lpstr>Next Steps and 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Project Presentation (Title)</dc:title>
  <dc:creator>NEHA SHUKLA</dc:creator>
  <cp:lastModifiedBy>Ritika Sharma</cp:lastModifiedBy>
  <cp:revision>84</cp:revision>
  <dcterms:created xsi:type="dcterms:W3CDTF">2023-09-23T09:10:50Z</dcterms:created>
  <dcterms:modified xsi:type="dcterms:W3CDTF">2026-04-22T10:00:32Z</dcterms:modified>
</cp:coreProperties>
</file>